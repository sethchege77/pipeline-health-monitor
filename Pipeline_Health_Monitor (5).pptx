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76" r:id="rId4"/>
    <p:sldId id="258" r:id="rId5"/>
    <p:sldId id="277" r:id="rId6"/>
    <p:sldId id="259" r:id="rId7"/>
    <p:sldId id="278" r:id="rId8"/>
    <p:sldId id="279" r:id="rId9"/>
    <p:sldId id="280" r:id="rId10"/>
    <p:sldId id="260" r:id="rId11"/>
    <p:sldId id="281" r:id="rId12"/>
    <p:sldId id="261" r:id="rId13"/>
    <p:sldId id="282" r:id="rId14"/>
    <p:sldId id="283" r:id="rId15"/>
    <p:sldId id="284" r:id="rId16"/>
    <p:sldId id="262" r:id="rId17"/>
    <p:sldId id="263" r:id="rId18"/>
    <p:sldId id="285" r:id="rId19"/>
    <p:sldId id="286" r:id="rId20"/>
    <p:sldId id="287" r:id="rId21"/>
    <p:sldId id="264" r:id="rId22"/>
    <p:sldId id="265" r:id="rId23"/>
    <p:sldId id="266" r:id="rId24"/>
    <p:sldId id="289" r:id="rId25"/>
    <p:sldId id="303" r:id="rId26"/>
    <p:sldId id="304" r:id="rId27"/>
    <p:sldId id="267" r:id="rId28"/>
    <p:sldId id="301" r:id="rId29"/>
    <p:sldId id="302" r:id="rId30"/>
    <p:sldId id="290" r:id="rId31"/>
    <p:sldId id="268" r:id="rId32"/>
    <p:sldId id="269" r:id="rId33"/>
    <p:sldId id="291" r:id="rId34"/>
    <p:sldId id="300" r:id="rId35"/>
    <p:sldId id="270" r:id="rId36"/>
    <p:sldId id="271" r:id="rId37"/>
    <p:sldId id="272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273" r:id="rId47"/>
    <p:sldId id="274" r:id="rId48"/>
    <p:sldId id="275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74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 Monitor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Recruitment Automation Workflow · Built on n8n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Documentation &amp; Enhancement Guide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-457200" y="-274320"/>
            <a:ext cx="2286000" cy="2286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recruitment pipeline monitoring using n8n workflow automation.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live data from Google Sheets (Applicants, Interview Feedback, Historical Data).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powered by Mistral Cloud &amp; GPT-4o via OpenRouter assess every candidate.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"stalled" candidates stuck more than 7 days in any pipeline stage.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healthy vs. stalled candidates to different downstream actions.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a Recruit Strategizer sub-workflow that emails HTML strategy reports.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fault-tolerant – dedicated error-handler AI agents log errors &amp; send alerts.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BA5A26-AB41-4BF2-ABE2-2A5D417E9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508"/>
            <a:ext cx="9144000" cy="453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83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27432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3200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– Data Collection &amp; Validation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live recruitment data from Google Sheets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C280A2-D9DD-4FAD-8B47-365146E2D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988" y="0"/>
            <a:ext cx="54980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8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– Three Google Sheets Tabs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Tab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23774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candidate name, current pipeline stage, days in stage, and status. Fetched first by the Schedule Trigger.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207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Feedback Tab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572768"/>
            <a:ext cx="23774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interviewer notes and feedback sentiment per applicant ID, matched during the merge step.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207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Tab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1572768"/>
            <a:ext cx="23774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past-cycle hiring metrics used as benchmarks for assessing current candidate health and stage velocity.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2ECB18-719A-4647-8217-EDE0DD2AA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98"/>
            <a:ext cx="9144000" cy="437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E13FDA-8539-4AB5-8051-39F4360E2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71"/>
            <a:ext cx="9144000" cy="452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9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064065-F800-46C2-823D-0D55473EC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856"/>
            <a:ext cx="9144000" cy="444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78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Trigger – Schedule Node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Trigger Node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3840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Type: n8n-nodes-base.scheduleTrigger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Interval: Monthly recurrence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Fires the workflow automatically at the start of each recruitment cycle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Simultaneously triggers all three data-fetch nodes in parallel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3749040" cy="3657600"/>
          </a:xfrm>
          <a:prstGeom prst="roundRect">
            <a:avLst>
              <a:gd name="adj" fmla="val 2500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Monthly?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55448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pipelines typically move on monthly review cadences. A monthly trigger ensures the workflow aligns with HR reporting cycles and generates actionable insights before the next hiring committee meeting.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A09457-8506-4C74-9EE1-050E92759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333"/>
            <a:ext cx="9144000" cy="424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68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– Three Gatekeeper IF Nodes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Validator: Applicant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23774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required fields (Name, Stage, Days) are present and non-empty before allowing data to proceed to merge.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207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Validator: Interview Feedback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572768"/>
            <a:ext cx="23774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each feedback record has an Applicant ID and sentiment score. Incomplete records are routed to a no-op fallback.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207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Validator: Historical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1572768"/>
            <a:ext cx="23774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historical benchmarks are available. If missing, the remove-duplicates step prevents stale or duplicate records from polluting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C6917B-E13A-4B4C-881D-4CC1A81C8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656"/>
            <a:ext cx="9144000" cy="427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01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A76E86-D973-420E-BBB9-94429CB6C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171"/>
            <a:ext cx="9144000" cy="434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34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1A3D80-EBE7-4614-B16E-F18B7B264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743"/>
            <a:ext cx="9144000" cy="449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09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27432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3200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– Data Merging &amp; Deduplication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three data streams into one unified candidate record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Merge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Applicants + Feedback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records joined with interview feedback using Applicant ID as the key. Creates a combined candidate profile.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17520" y="2697480"/>
            <a:ext cx="137160" cy="45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10972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887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1874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4231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node strips any candidate appearing more than once across data sources before historical merge.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0" y="2697480"/>
            <a:ext cx="137160" cy="45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0" y="10972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1887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1874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Combined + Historical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4231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benchmark data merged to complete the full picture. Output feeds directly into the batch splitter.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9DEE7D-7CE6-4CF0-8EAB-4052978DA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899"/>
            <a:ext cx="9144000" cy="440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65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D286F8-EF29-4F1F-9948-E3754771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022"/>
            <a:ext cx="9144000" cy="465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13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5C34B6-AD46-4374-AD89-AAA3CF39C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171"/>
            <a:ext cx="9144000" cy="45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21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27432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3200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– AI Agent Assessment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AI analysis using Mistral &amp; GPT-4o with fallback routing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→ Pipeline Reviewer Agent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206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 Batches Node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Splits all merged candidate records into batches of 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memory overload during AI processing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batch is independently processed through the reviewer agent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Ensures consistent throughput even for large pipelines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1155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Reviewer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481328"/>
            <a:ext cx="35661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Recruitment Manager AI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per candidate: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Current Stage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Days in Stage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Feedback Sentiment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structured JSON: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 | current stage | days in stage | feedback sentiment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Architecture – Dual Fallback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Mistral Cloud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devstral-medium-latest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0.3 | Max Tokens 100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mode: OFF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retries: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structured, deterministic output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OpenRouter GPT-4o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444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openai/gpt-4o via OpenRouter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7190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0.3 | Max Tokens 100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automatically if Mistral fails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zero downtime on AI assessments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27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Buffer Window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456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Memory – 25 turns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3075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key: current timestamp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conversation context within each batch run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per workflow execution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127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456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73075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strict JSON schema output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autoFix: true – self-repairs malformed AI responses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 secondary Mistral model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CC674A-25C7-499D-B8E0-38F077CF6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150"/>
            <a:ext cx="9144000" cy="44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98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69D508-360D-40E7-A1EB-028226A88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546"/>
            <a:ext cx="9144000" cy="457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09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F3D0E0-D5B1-428A-BDF7-07E91B9F4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794"/>
            <a:ext cx="9144000" cy="440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Assessor Agent – Health Classification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Assessor Logic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81381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assessor receives the reviewer's structured output and applies two evaluation rules: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Rule 1 – Stall Detection:  Is the candidate stuck? Days in stage &gt; 7 = STALLED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Rule 2 – Feedback Alignment:  Is feedback sentiment consistent with the current pipeline stage?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 label:  'stalled'  OR  'healthy'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binary classification drives all downstream routing decisions in the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42B93-5EE3-4722-A147-EA715D066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546"/>
            <a:ext cx="9144000" cy="457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86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3E6B71-80CB-4267-8F22-3B120F258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794"/>
            <a:ext cx="9144000" cy="440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3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F84001-BE25-4E55-BBE7-63AEFB175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591"/>
            <a:ext cx="9144000" cy="447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68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27432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3200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– Routing &amp; Downstream Actions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routing, Google Sheets logging, and email alerts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Health Routing – IF Node Decision Tree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E6FAF5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HEALTHY Path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is progressing normally.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aggregated into the Aggregate node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Passed to the Recruit Strategizer sub-workflow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Strategy analysis &amp; recommendations generated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 report emailed to HR team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STALLED Path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5087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flagged as stuck (&gt; 7 days in stage).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 Fields node formats alert data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Gmail node sends immediate alert email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Sheet (Append/Update Row) logs the stalled record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handler agents activated if step fails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10B5ED-5B36-4CE8-880A-DCC80D81D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2405"/>
            <a:ext cx="9144000" cy="439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68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1B5B2-71D7-4FF2-9F90-5D10990A4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494"/>
            <a:ext cx="9144000" cy="443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4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27432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3200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📊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– Recruit Strategizer Sub-Workflow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bottleneck analysis and hiring improvement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Strategizer – AI Analysis Agent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Strategiser Agent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49377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by: Call WEEK4 Recruit Strategiser (executeWorkflow node)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Aggregated pipeline metrics from the main workflow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Tasks: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Identify bottleneck stage (Interview / Offer / Screening)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Generate 4 recommendations to improve hiring speed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Format output as valid HTML (lists + bold highlights)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Schema: Title | Text | Bottleneck Stage | Recommendations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06440" y="1005840"/>
            <a:ext cx="2880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155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48132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node sends HTML strategy report to HR manager with bottleneck stage + action items highlighted.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2834640"/>
            <a:ext cx="2880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9443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Logging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31012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appended or updated in Google Sheets for historical tracking of strategy recommendations.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Architecture – Three Layers of Protection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Handler: Pipeline Reviewer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23774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failures in the pipeline reviewer agent. AI reviews the error, adds a timestamp, and emails an alert. Logs event to Google Sheets.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207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Handler: Pipeline Reviewer (Fallback)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572768"/>
            <a:ext cx="23774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fallback for the reviewer path. Same error-review logic using a Mistral + OpenRouter dual-model setup with structured output.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EAB30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207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Handler: Recruitment Advisor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1572768"/>
            <a:ext cx="23774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the Recruit Strategizer sub-workflow. Sends alert email with subject 'Error in n8n AI agent' when strategizer fails.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8963CD-770A-4B25-96EF-08859674B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125"/>
            <a:ext cx="9144000" cy="45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08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5AC82A-69B3-4FA7-A12A-CE76C5C58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216"/>
            <a:ext cx="9144000" cy="430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9261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ED7070-CA64-4ED5-BE7A-F267020A7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150"/>
            <a:ext cx="91440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78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17E53A-7D6B-4C4C-82DE-D03F52908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687"/>
            <a:ext cx="9144000" cy="452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708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1573B7-EC72-43A8-B2C1-E676B09CE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501"/>
            <a:ext cx="9144000" cy="430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288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933E0D-8574-47AD-A3A8-352F7A802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226"/>
            <a:ext cx="9144000" cy="422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813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8BFC1C-1BBB-4F29-AD8C-71E0B8762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210"/>
            <a:ext cx="9144000" cy="408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23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13EF37-870F-485F-90CB-19BF55941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082"/>
            <a:ext cx="9144000" cy="446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9912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Flow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00584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10058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94760" y="100584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4760" y="10058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Merge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00584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10058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(20)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78040" y="100584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78040" y="10058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8346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283464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03120" y="28346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Healthy/Stalled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94760" y="283464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94760" y="28346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Strategizer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Sub-Workflow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2834640"/>
            <a:ext cx="1508760" cy="13716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28346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Workflow Enhancements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Real-Time Webhook Trigger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monthly schedule with a webhook trigger that fires every time a candidate stage changes in Google Sheets, enabling real-time monitoring.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15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Slack / Teams Notifications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813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Slack or Microsoft Teams node alongside Gmail so hiring managers receive instant in-channel alerts when candidates stall.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441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Dashboard Aggregation Sheet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072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dedicated 'Pipeline Dashboard' sheet tab and an Append node after each run to build a time-series view of pipeline health metrics.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441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Candidate Scoring Node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8072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Code node after the assessor that assigns a numeric health score (0-100) per candidate enabling ranked reporting instead of binary labels.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673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Retry Queue for Stalled Records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330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Wait node + loop that re-checks stalled candidates after 48 hours to confirm resolution before archiving them in the historical sheet.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7673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Automated Calendar Invite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1330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candidate is stalled, use a Google Calendar node to auto-schedule a review meeting with the hiring manager, eliminating manual follow-up.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smarter, faster recruitment pipeline with AI automation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57-node workflow fully automates monthly recruitment pipeline reviews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Three data sources merged, deduplicated, and processed by dual AI models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Binary health classification (healthy / stalled) drives actionable downstream routing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Recruit Strategizer sub-workflow delivers AI-authored HTML strategy reports via email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Three-tier error handling ensures zero silent failures across the pipeline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Next: Implement webhook trigger, Slack alerts &amp; candidate scoring for v2.0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1380</Words>
  <Application>Microsoft Office PowerPoint</Application>
  <PresentationFormat>On-screen Show (16:9)</PresentationFormat>
  <Paragraphs>205</Paragraphs>
  <Slides>48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Health Monitor – Workflow Deep Dive</dc:title>
  <dc:subject>PptxGenJS Presentation</dc:subject>
  <dc:creator>PptxGenJS</dc:creator>
  <cp:lastModifiedBy>Pascal Mungai</cp:lastModifiedBy>
  <cp:revision>4</cp:revision>
  <dcterms:created xsi:type="dcterms:W3CDTF">2026-06-09T08:02:31Z</dcterms:created>
  <dcterms:modified xsi:type="dcterms:W3CDTF">2026-06-09T11:16:43Z</dcterms:modified>
</cp:coreProperties>
</file>